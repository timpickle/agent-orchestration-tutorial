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7_tf1.xml" ContentType="application/vnd.openxmlformats-officedocument.presentationml.notesSlide+xml"/>
  <Override PartName="/ppt/notesSlides/notesSlide8_tf1.xml" ContentType="application/vnd.openxmlformats-officedocument.presentationml.notesSlide+xml"/>
  <Override PartName="/ppt/notesSlides/notesSlide9_tf1.xml" ContentType="application/vnd.openxmlformats-officedocument.presentationml.notesSlide+xml"/>
  <Override PartName="/ppt/notesSlides/notesSlide10_tf1.xml" ContentType="application/vnd.openxmlformats-officedocument.presentationml.notesSlide+xml"/>
  <Override PartName="/ppt/notesSlides/notesSlide11_tf1.xml" ContentType="application/vnd.openxmlformats-officedocument.presentationml.notesSlide+xml"/>
  <Override PartName="/ppt/notesSlides/notesSlide12_tf1.xml" ContentType="application/vnd.openxmlformats-officedocument.presentationml.notesSlide+xml"/>
  <Override PartName="/ppt/notesSlides/notesSlide13_tf1.xml" ContentType="application/vnd.openxmlformats-officedocument.presentationml.notesSlide+xml"/>
  <Override PartName="/ppt/notesSlides/notesSlide16_tf1.xml" ContentType="application/vnd.openxmlformats-officedocument.presentationml.notesSlide+xml"/>
  <Override PartName="/ppt/notesSlides/notesSlide17_tf1.xml" ContentType="application/vnd.openxmlformats-officedocument.presentationml.notesSlide+xml"/>
  <Override PartName="/ppt/notesSlides/notesSlide19_tf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9"/>
  </p:notesMasterIdLst>
  <p:sldIdLst>
    <p:sldId id="256" r:id="rId30"/>
    <p:sldId id="257" r:id="rId31"/>
    <p:sldId id="258" r:id="rId32"/>
    <p:sldId id="259" r:id="rId33"/>
    <p:sldId id="260" r:id="rId34"/>
    <p:sldId id="261" r:id="rId35"/>
    <p:sldId id="262" r:id="rId36"/>
    <p:sldId id="263" r:id="rId37"/>
    <p:sldId id="264" r:id="rId38"/>
    <p:sldId id="265" r:id="rId39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printerSettings" Target="printerSettings/printerSettings1.bin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29" Type="http://schemas.openxmlformats.org/officeDocument/2006/relationships/notesMaster" Target="notesMasters/notesMaster1.xml" />
<Relationship Id="rId30" Type="http://schemas.openxmlformats.org/officeDocument/2006/relationships/slide" Target="slides/slide1.xml" /><Relationship Id="rId31" Type="http://schemas.openxmlformats.org/officeDocument/2006/relationships/slide" Target="slides/slide2.xml" /><Relationship Id="rId32" Type="http://schemas.openxmlformats.org/officeDocument/2006/relationships/slide" Target="slides/slide3.xml" /><Relationship Id="rId33" Type="http://schemas.openxmlformats.org/officeDocument/2006/relationships/slide" Target="slides/slide4.xml" /><Relationship Id="rId34" Type="http://schemas.openxmlformats.org/officeDocument/2006/relationships/slide" Target="slides/slide5.xml" /><Relationship Id="rId35" Type="http://schemas.openxmlformats.org/officeDocument/2006/relationships/slide" Target="slides/slide6.xml" /><Relationship Id="rId36" Type="http://schemas.openxmlformats.org/officeDocument/2006/relationships/slide" Target="slides/slide7.xml" /><Relationship Id="rId37" Type="http://schemas.openxmlformats.org/officeDocument/2006/relationships/slide" Target="slides/slide8.xml" /><Relationship Id="rId38" Type="http://schemas.openxmlformats.org/officeDocument/2006/relationships/slide" Target="slides/slide9.xml" /><Relationship Id="rId39" Type="http://schemas.openxmlformats.org/officeDocument/2006/relationships/slide" Target="slides/slide10.xml" />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7_tf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8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.xml" />
</Relationships>
</file>

<file path=ppt/notesSlides/_rels/notesSlide9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.xml" />
</Relationships>
</file>

<file path=ppt/notesSlides/_rels/notesSlide10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4.xml" />
</Relationships>
</file>

<file path=ppt/notesSlides/_rels/notesSlide11_tf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12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6.xml" />
</Relationships>
</file>

<file path=ppt/notesSlides/_rels/notesSlide13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7.xml" />
</Relationships>
</file>

<file path=ppt/notesSlides/_rels/notesSlide16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8.xml" />
</Relationships>
</file>

<file path=ppt/notesSlides/_rels/notesSlide17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9.xml" />
</Relationships>
</file>

<file path=ppt/notesSlides/_rels/notesSlide19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0.xml" />
</Relationships>
</file>

<file path=ppt/notesSlides/notesSlide7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把业务流程转成 Agent 工作流时，可以先对每个环节提出同一个问题：这里究竟需要什么性质的决策？如果规则清楚，例如按参数查询异味、准备分支或调用 PR API，就适合用确定性程序表达。如果路径依赖代码上下文，例如定位问题、选择修改方案，就可以交给 Agent 探索。</a:t>
            </a:r>
          </a:p>
          <a:p>
            <a:pPr/>
            <a:r>
              <a:rPr lang="zh-CN" dirty="0"/>
              <a:t>还有一类判断涉及责任和授权，例如什么变更可以合并、哪些动作允许自动执行。这类问题应有明确规则和责任人，即使其中一部分检查能够自动化，责任归属也需要保留。</a:t>
            </a:r>
          </a:p>
          <a:p>
            <a:pPr/>
            <a:r>
              <a:rPr lang="zh-CN" dirty="0"/>
              <a:t>这是一种职责划分方法，不代表现有系统中的每个工具都已经严格按这个结构隔离。真正落到实现时，还要给节点写清输入、产出、退出条件以及下一环节如何接收结果。只有一个角色名称，仍不足以形成可运行的工作流。</a:t>
            </a:r>
          </a:p>
          <a:p>
            <a:pPr/>
            <a:r>
              <a:rPr lang="zh-CN" dirty="0"/>
              <a:t>案例：comate 的多agent实践</a:t>
            </a:r>
          </a:p>
          <a:p>
            <a:pPr/>
            <a:endParaRPr lang="zh-CN" dirty="0"/>
          </a:p>
          <a:p>
            <a:pPr/>
            <a:r>
              <a:rPr lang="zh-CN" dirty="0"/>
              <a:t>资料依据：https://github.com/TIMPICKLE/agent-orchestration-tutorial ；本页为结合项目的设计提炼。</a:t>
            </a:r>
          </a:p>
        </p:txBody>
      </p:sp>
    </p:spTree>
  </p:cSld>
  <p:clrMapOvr>
    <a:masterClrMapping/>
  </p:clrMapOvr>
</p:notes>
</file>

<file path=ppt/notesSlides/notesSlide8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“修复这条异味”表达了目标，但作为系统任务仍然不够具体。这里给出一个任务契约的设计示例：输入包含异味标识、仓库和代码基线；交付包含补丁、PR 和必要说明；证据包含适用的检查与测试记录；停止条件包含权限不足、环境阻塞和预算耗尽。</a:t>
            </a:r>
          </a:p>
          <a:p>
            <a:pPr/>
            <a:endParaRPr lang="zh-CN" dirty="0"/>
          </a:p>
          <a:p>
            <a:pPr/>
            <a:r>
              <a:rPr lang="zh-CN" dirty="0"/>
              <a:t>例如，Agent 发现只有改动另一个未授权仓库才能继续，这时合理的结果可能是报告阻塞。报告需要说明缺少什么、已经完成什么、由谁接手。这样的任务状态依然是有效产出，不能为了让流程全部变绿而强行标为成功。</a:t>
            </a:r>
          </a:p>
          <a:p>
            <a:pPr/>
            <a:endParaRPr lang="zh-CN" dirty="0"/>
          </a:p>
          <a:p>
            <a:pPr/>
            <a:r>
              <a:rPr lang="zh-CN" dirty="0"/>
              <a:t>契约也方便连接多个组件。上游不需要知道修复内部尝试过多少路径，只需要理解明确的产物和状态。下游则可以根据版本、证据及阻塞原因作出判断。本页是建议的任务约定，不宣称当前系统已经完整实现这些字段。</a:t>
            </a:r>
          </a:p>
          <a:p>
            <a:pPr/>
            <a:endParaRPr lang="zh-CN" dirty="0"/>
          </a:p>
          <a:p>
            <a:pPr/>
            <a:r>
              <a:rPr lang="zh-CN" dirty="0"/>
              <a:t>资料依据：https://github.com/TIMPICKLE/agent-orchestration-tutorial 。</a:t>
            </a:r>
          </a:p>
        </p:txBody>
      </p:sp>
    </p:spTree>
  </p:cSld>
  <p:clrMapOvr>
    <a:masterClrMapping/>
  </p:clrMapOvr>
</p:notes>
</file>

<file path=ppt/notesSlides/notesSlide9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可以把当前职责理解为两层控制。外层程序负责阶段顺序与交接，例如准备工作区、调用修复、接收结果以及后续交付。内层 Agent 根据当前问题读取代码、选择工具、修改代码，再根据工具反馈决定下一步。</a:t>
            </a:r>
          </a:p>
          <a:p>
            <a:pPr/>
            <a:endParaRPr lang="zh-CN" dirty="0"/>
          </a:p>
          <a:p>
            <a:pPr/>
            <a:r>
              <a:rPr lang="zh-CN" dirty="0"/>
              <a:t>外层不必提前列出每一次文件读取，内层也不应该随意改变业务交付的授权条件。这种分工让固定流程保持可理解，同时为未知路径保留探索空间。不过，职责图只表达设计上的分工；如果某个工具本身包含提交或推送，实际权限就必须到工具实现中检查。</a:t>
            </a:r>
          </a:p>
          <a:p>
            <a:pPr/>
            <a:endParaRPr lang="zh-CN" dirty="0"/>
          </a:p>
          <a:p>
            <a:pPr/>
            <a:r>
              <a:rPr lang="zh-CN" dirty="0"/>
              <a:t>因此，评审编排时应该沿着实际调用链追问：谁选择这个工具，这个工具会产生哪些副作用，哪些条件由程序检查？下一页进一步展开内层工具循环。</a:t>
            </a:r>
          </a:p>
          <a:p>
            <a:pPr/>
            <a:endParaRPr lang="zh-CN" dirty="0"/>
          </a:p>
          <a:p>
            <a:pPr/>
            <a:r>
              <a:rPr lang="zh-CN" dirty="0"/>
              <a:t>资料依据：公开项目 orchestrator.py、smell_fix_agent.py 与 fix_tools.py；https://github.com/TIMPICKLE/SonarqubeAutoFlow_MAF 。</a:t>
            </a:r>
          </a:p>
        </p:txBody>
      </p:sp>
    </p:spTree>
  </p:cSld>
  <p:clrMapOvr>
    <a:masterClrMapping/>
  </p:clrMapOvr>
</p:notes>
</file>

<file path=ppt/notesSlides/notesSlide10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工具循环可以从一次失败的修改理解。Agent 先读取上下文，选择工具执行动作，观察返回结果，再调整方案。比如修改后测试提示某个断言失败，新的观察就可能让它重新定位代码，而不是重复原来的修改。</a:t>
            </a:r>
          </a:p>
          <a:p>
            <a:pPr/>
            <a:endParaRPr lang="zh-CN" dirty="0"/>
          </a:p>
          <a:p>
            <a:pPr/>
            <a:r>
              <a:rPr lang="zh-CN" dirty="0"/>
              <a:t>图中是教学模型，强调反馈与退出条件。实际循环需要在适当的执行点检查预算、权限和验收状态；图中的每轮检查不代表一套完整的执行协议。达到任务约定的验收条件后，可以交付；遇到权限限制、不可解除的阻塞或预算耗尽，则应该停止并给出可接手的信息。</a:t>
            </a:r>
          </a:p>
          <a:p>
            <a:pPr/>
            <a:endParaRPr lang="zh-CN" dirty="0"/>
          </a:p>
          <a:p>
            <a:pPr/>
            <a:r>
              <a:rPr lang="zh-CN" dirty="0"/>
              <a:t>关键在于每一步观察是否足以支持下一步决策。如果工具只返回一段含糊的自然语言，后续判断就容易漂移。因此，工具结果应尽量包含可识别的状态、产物引用和错误类型。</a:t>
            </a:r>
          </a:p>
          <a:p>
            <a:pPr/>
            <a:endParaRPr lang="zh-CN" dirty="0"/>
          </a:p>
          <a:p>
            <a:pPr/>
            <a:r>
              <a:rPr lang="zh-CN" dirty="0"/>
              <a:t>资料依据：https://github.com/TIMPICKLE/agent-orchestration-tutorial 。</a:t>
            </a:r>
          </a:p>
        </p:txBody>
      </p:sp>
    </p:spTree>
  </p:cSld>
  <p:clrMapOvr>
    <a:masterClrMapping/>
  </p:clrMapOvr>
</p:notes>
</file>

<file path=ppt/notesSlides/notesSlide1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“允许 Agent 自主修复”需要进一步写成具体的能力范围。以代码任务为例，可以允许它在指定仓库内读取、修改和测试，同时限制可用工具、参数范围、执行时间、轮数以及成本。对于推送、合并和发布，应依据任务授权交给受控执行器操作。</a:t>
            </a:r>
          </a:p>
          <a:p>
            <a:pPr/>
            <a:r>
              <a:rPr lang="zh-CN" dirty="0"/>
              <a:t>这并不意味着外部动作一律需要现场人工点击。已经得到明确授权、且满足执行策略的动作可以自动完成。重点是授权范围可表达、执行端可检查，超出范围时有清楚的停止和升级方式。</a:t>
            </a:r>
          </a:p>
          <a:p>
            <a:pPr/>
            <a:r>
              <a:rPr lang="zh-CN" dirty="0"/>
              <a:t>提示词适合描述意图和工作方法，但真正能产生副作用的是工具及其执行环境。因此边界还需要通过工作区隔离、凭据范围、参数检查和预算机制落实。本页是设计建议，具体落实时可以检查当前 CLI 参数及其执行环境。</a:t>
            </a:r>
          </a:p>
          <a:p>
            <a:pPr/>
            <a:r>
              <a:rPr lang="zh-CN" dirty="0"/>
              <a:t>资料依据：https://github.com/TIMPICKLE/agent-orchestration-tutorial 。</a:t>
            </a:r>
          </a:p>
        </p:txBody>
      </p:sp>
    </p:spTree>
  </p:cSld>
  <p:clrMapOvr>
    <a:masterClrMapping/>
  </p:clrMapOvr>
</p:notes>
</file>

<file path=ppt/notesSlides/notesSlide12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这些术语可以按解决的问题来理解。Workflow 管理业务阶段与状态；Agent 在给定任务内决定下一步行动；Tool 执行具体操作。Skills 提供规范、经验和可复用工作方法，MCP 提供连接外部能力的协议方式，Harness 则概括运行 Agent 所需要的支撑环境和机制。</a:t>
            </a:r>
          </a:p>
          <a:p>
            <a:pPr/>
            <a:endParaRPr lang="zh-CN" dirty="0"/>
          </a:p>
          <a:p>
            <a:pPr/>
            <a:r>
              <a:rPr lang="zh-CN" dirty="0"/>
              <a:t>它们不一定一一对应独立服务，也不要求每个项目全部使用。图示表达概念分工，不表示本项目已经部署了所有组件。MCP 连接出来的能力仍然需要自己的权限策略；Skills 中写有约束，也不能替代工具执行检查。</a:t>
            </a:r>
          </a:p>
          <a:p>
            <a:pPr/>
            <a:endParaRPr lang="zh-CN" dirty="0"/>
          </a:p>
          <a:p>
            <a:pPr/>
            <a:r>
              <a:rPr lang="zh-CN" dirty="0"/>
              <a:t>回到当前项目，真正值得关注的是能力是否放在合适的位置。例如项目规范如何被修复过程读取，工具结果如何回到循环，业务状态如何被外层保存。能解释这些关系，比仅仅列出技术名词更有助于评审设计。</a:t>
            </a:r>
          </a:p>
          <a:p>
            <a:pPr/>
            <a:endParaRPr lang="zh-CN" dirty="0"/>
          </a:p>
          <a:p>
            <a:pPr/>
            <a:r>
              <a:rPr lang="zh-CN" dirty="0"/>
              <a:t>资料依据：https://github.com/TIMPICKLE/agent-orchestration-tutorial ；本页概念为该教程与项目语境下的工作性定义。</a:t>
            </a:r>
          </a:p>
        </p:txBody>
      </p:sp>
    </p:spTree>
  </p:cSld>
  <p:clrMapOvr>
    <a:masterClrMapping/>
  </p:clrMapOvr>
</p:notes>
</file>

<file path=ppt/notesSlides/notesSlide13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设想一个问题：任务执行到一半进程退出了，重启之后系统应该从哪里继续？这时必须分清三种信息。上下文服务当前推理，比如异味描述和相关代码；任务状态记录阶段、产物和阻塞，决定后续允许做什么；日志记录发生过的事件，便于追溯和排查。</a:t>
            </a:r>
          </a:p>
          <a:p>
            <a:pPr/>
            <a:endParaRPr lang="zh-CN" dirty="0"/>
          </a:p>
          <a:p>
            <a:pPr/>
            <a:r>
              <a:rPr lang="zh-CN" dirty="0"/>
              <a:t>现有系统已经有 WorkflowState 和 JSON 处理记录，可以传递运行信息并保留处理结果。但拥有这些记录，不自动等于具备跨进程的可靠恢复。恢复还需要明确哪些状态已持久化，哪些外部动作已经发生，以及重新执行是否会重复提交或创建 PR。</a:t>
            </a:r>
          </a:p>
          <a:p>
            <a:pPr/>
            <a:endParaRPr lang="zh-CN" dirty="0"/>
          </a:p>
          <a:p>
            <a:pPr/>
            <a:r>
              <a:rPr lang="zh-CN" dirty="0"/>
              <a:t>因此，恢复设计通常需要稳定的任务标识、版本化产物、阶段提交点和幂等约定。人工中断与恢复属于后续设计方向，不应在介绍现有系统时提前声称已经支持。</a:t>
            </a:r>
          </a:p>
          <a:p>
            <a:pPr/>
            <a:endParaRPr lang="zh-CN" dirty="0"/>
          </a:p>
          <a:p>
            <a:pPr/>
            <a:r>
              <a:rPr lang="zh-CN" dirty="0"/>
              <a:t>资料依据：公开项目 orchestrator.py 及处理记录逻辑；https://github.com/TIMPICKLE/agent-orchestration-tutorial 。</a:t>
            </a:r>
          </a:p>
        </p:txBody>
      </p:sp>
    </p:spTree>
  </p:cSld>
  <p:clrMapOvr>
    <a:masterClrMapping/>
  </p:clrMapOvr>
</p:notes>
</file>

<file path=ppt/notesSlides/notesSlide16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什么时候值得增加一个 Agent？可以检查三个条件：子任务是否能够独立验证，是否需要隔离上下文或权限，以及工作是否真正能够并行。如果两个角色依赖完全相同的信息、只能串行等待，而且没有独立验收，拆分的收益就需要认真验证。</a:t>
            </a:r>
          </a:p>
          <a:p>
            <a:pPr/>
            <a:endParaRPr lang="zh-CN" dirty="0"/>
          </a:p>
          <a:p>
            <a:pPr/>
            <a:r>
              <a:rPr lang="zh-CN" dirty="0"/>
              <a:t>增加角色也会产生交接、协调和运行成本。以 Reviewer 为例，可以给它独立的审查任务和证据要求，但仅仅换一个提示词，并不能证明漏检率会下降。应使用固定样本，对比新增角色前后的漏检、误报、审查负担和运行成本。</a:t>
            </a:r>
          </a:p>
          <a:p>
            <a:pPr/>
            <a:endParaRPr lang="zh-CN" dirty="0"/>
          </a:p>
          <a:p>
            <a:pPr/>
            <a:r>
              <a:rPr lang="zh-CN" dirty="0"/>
              <a:t>这一页讨论设计取舍，不是宣称当前项目已经形成多 Agent 并行架构。先把单个任务的输入、输出和验收定义清楚，才比较容易判断哪里值得拆出新的角色。</a:t>
            </a:r>
          </a:p>
          <a:p>
            <a:pPr/>
            <a:endParaRPr lang="zh-CN" dirty="0"/>
          </a:p>
          <a:p>
            <a:pPr/>
            <a:r>
              <a:rPr lang="zh-CN" dirty="0"/>
              <a:t>资料依据：https://github.com/TIMPICKLE/agent-orchestration-tutorial 。</a:t>
            </a:r>
          </a:p>
        </p:txBody>
      </p:sp>
    </p:spTree>
  </p:cSld>
  <p:clrMapOvr>
    <a:masterClrMapping/>
  </p:clrMapOvr>
</p:notes>
</file>

<file path=ppt/notesSlides/notesSlide17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框架选择可以回到我们需要减少哪类重复工作。固定的业务步骤，用 Python 可以直接表达。MAF 可以承担 Agent 工具循环等运行工作。需要显式状态、条件路由、等待与恢复时，图工作流框架提供了相应的组织能力。这里列出的是能力侧重点，不是互斥的产品边界。</a:t>
            </a:r>
          </a:p>
          <a:p>
            <a:pPr/>
            <a:endParaRPr lang="zh-CN" dirty="0"/>
          </a:p>
          <a:p>
            <a:pPr/>
            <a:r>
              <a:rPr lang="zh-CN" dirty="0"/>
              <a:t>本项目 MAF 版本的外层依然采用 Python 顺序编排。它并没有因为使用 MAF，就自动变成完整的图工作流。类似地，引入支持 checkpoint 的框架，也仍需要业务自己设计状态内容、外部动作幂等以及恢复后的责任判断。</a:t>
            </a:r>
          </a:p>
          <a:p>
            <a:pPr/>
            <a:endParaRPr lang="zh-CN" dirty="0"/>
          </a:p>
          <a:p>
            <a:pPr/>
            <a:r>
              <a:rPr lang="zh-CN" dirty="0"/>
              <a:t>选型时可以先列出当前缺口：是循环代码难维护，还是分支越来越复杂，还是需要长时间等待和恢复？然后验证框架是否能减少对应的实现成本。不同层的能力可以组合，具体组合仍要看任务规模和维护要求。</a:t>
            </a:r>
          </a:p>
          <a:p>
            <a:pPr/>
            <a:endParaRPr lang="zh-CN" dirty="0"/>
          </a:p>
          <a:p>
            <a:pPr/>
            <a:r>
              <a:rPr lang="zh-CN" dirty="0"/>
              <a:t>资料依据：公开项目 orchestrator.py、smell_fix_agent.py；https://github.com/TIMPICKLE/agent-orchestration-tutorial 。</a:t>
            </a:r>
          </a:p>
        </p:txBody>
      </p:sp>
    </p:spTree>
  </p:cSld>
  <p:clrMapOvr>
    <a:masterClrMapping/>
  </p:clrMapOvr>
</p:notes>
</file>

<file path=ppt/notesSlides/notesSlide19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业务落地还包含团队如何使用系统。当前链路连接了 SonarQube、PR 和飞书，分别对应问题入口、审查交付与结果通知。这些入口已经存在于团队工作中，可以让自动化结果进入熟悉的协作过程。</a:t>
            </a:r>
          </a:p>
          <a:p>
            <a:pPr/>
            <a:endParaRPr lang="zh-CN" dirty="0"/>
          </a:p>
          <a:p>
            <a:pPr/>
            <a:r>
              <a:rPr lang="zh-CN" dirty="0"/>
              <a:t>接下来值得完善的是交付信息。PR 应方便审查者理解修改依据和范围；通知应指向实际结果，并在有验证证据时提供链接；任务阻塞时，应说明由谁接手以及需要采取什么动作。页面中的结果与证据链接是交付建议，并不表示当前系统已经提供完整的证据管理。</a:t>
            </a:r>
          </a:p>
          <a:p>
            <a:pPr/>
            <a:endParaRPr lang="zh-CN" dirty="0"/>
          </a:p>
          <a:p>
            <a:pPr/>
            <a:r>
              <a:rPr lang="zh-CN" dirty="0"/>
              <a:t>可以把 Agent 当作一个需要明确职责的执行角色来设计：什么时候接收任务，输出给谁，失败通知谁，多久之后需要升级。这样，技术流程就和组织中的责任关系连接起来，而不是停留在一次成功运行的演示。</a:t>
            </a:r>
          </a:p>
          <a:p>
            <a:pPr/>
            <a:endParaRPr lang="zh-CN" dirty="0"/>
          </a:p>
          <a:p>
            <a:pPr/>
            <a:r>
              <a:rPr lang="zh-CN" dirty="0"/>
              <a:t>资料依据：用户项目汇报及公开项目 README；责任与交付建议来自本次工程分析。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gent_engineering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gent_engineering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45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5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22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5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4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  <Relationship Id="rId2" Type="http://schemas.openxmlformats.org/officeDocument/2006/relationships/notesSlide" Target="../notesSlides/notesSlide7_tf1.xml"/>
</Relationships>
</file>

<file path=ppt/slides/_rels/slide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8_tf1.xml" />
</Relationships>
</file>

<file path=ppt/slides/_rels/slide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9_tf1.xml" />
</Relationships>
</file>

<file path=ppt/slides/_rels/slide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0_tf1.xml" />
</Relationships>
</file>

<file path=ppt/slides/_rels/slide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  <Relationship Id="rId2" Type="http://schemas.openxmlformats.org/officeDocument/2006/relationships/notesSlide" Target="../notesSlides/notesSlide11_tf1.xml"/>
</Relationships>
</file>

<file path=ppt/slides/_rels/slide6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2_tf1.xml" />
</Relationships>
</file>

<file path=ppt/slides/_rels/slide7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3_tf1.xml" />
</Relationships>
</file>

<file path=ppt/slides/_rels/slide8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6_tf1.xml" />
</Relationships>
</file>

<file path=ppt/slides/_rels/slide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7_tf1.xml" />
</Relationships>
</file>

<file path=ppt/slides/_rels/slide1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9_tf1.xml" />
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2074" y="581025"/>
            <a:ext cx="4068547" cy="1033907"/>
            <a:chOff x="592074" y="581025"/>
            <a:chExt cx="4068547" cy="1033907"/>
          </a:xfrm>
        </p:grpSpPr>
        <p:sp>
          <p:nvSpPr>
            <p:cNvPr id="2" name="TextBox 2"/>
            <p:cNvSpPr txBox="1"/>
            <p:nvPr/>
          </p:nvSpPr>
          <p:spPr>
            <a:xfrm>
              <a:off x="592074" y="581025"/>
              <a:ext cx="3750564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工作流的切分依据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218" y="1292225"/>
              <a:ext cx="40594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从“谁在做”，细化到“这里需要什么决策”</a:t>
              </a:r>
            </a:p>
          </p:txBody>
        </p:sp>
      </p:grpSp>
      <p:grpSp>
        <p:nvGrpSpPr>
          <p:cNvPr id="9" name="program"/>
          <p:cNvGrpSpPr/>
          <p:nvPr/>
        </p:nvGrpSpPr>
        <p:grpSpPr>
          <a:xfrm>
            <a:off x="596646" y="2397125"/>
            <a:ext cx="3080004" cy="2161032"/>
            <a:chOff x="596646" y="2397125"/>
            <a:chExt cx="3080004" cy="2161032"/>
          </a:xfrm>
        </p:grpSpPr>
        <p:sp>
          <p:nvSpPr>
            <p:cNvPr id="5" name="TextBox 5"/>
            <p:cNvSpPr txBox="1"/>
            <p:nvPr/>
          </p:nvSpPr>
          <p:spPr>
            <a:xfrm>
              <a:off x="596646" y="2397125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规则明确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09600" y="3000375"/>
              <a:ext cx="3067050" cy="9525"/>
            </a:xfrm>
            <a:custGeom>
              <a:avLst/>
              <a:gdLst/>
              <a:ahLst/>
              <a:cxnLst/>
              <a:rect l="l" t="t" r="r" b="b"/>
              <a:pathLst>
                <a:path w="3067050" h="9525">
                  <a:moveTo>
                    <a:pt x="0" y="0"/>
                  </a:moveTo>
                  <a:lnTo>
                    <a:pt x="30670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98170" y="3368675"/>
              <a:ext cx="201853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查询、Git、PR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1218" y="423545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交给确定性程序</a:t>
              </a:r>
            </a:p>
          </p:txBody>
        </p:sp>
      </p:grpSp>
      <p:grpSp>
        <p:nvGrpSpPr>
          <p:cNvPr id="14" name="agent"/>
          <p:cNvGrpSpPr/>
          <p:nvPr/>
        </p:nvGrpSpPr>
        <p:grpSpPr>
          <a:xfrm>
            <a:off x="4368546" y="2397125"/>
            <a:ext cx="3080004" cy="2161032"/>
            <a:chOff x="4368546" y="2397125"/>
            <a:chExt cx="3080004" cy="2161032"/>
          </a:xfrm>
        </p:grpSpPr>
        <p:sp>
          <p:nvSpPr>
            <p:cNvPr id="10" name="TextBox 10"/>
            <p:cNvSpPr txBox="1"/>
            <p:nvPr/>
          </p:nvSpPr>
          <p:spPr>
            <a:xfrm>
              <a:off x="4368546" y="2397125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路径未知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4381500" y="3000375"/>
              <a:ext cx="3067050" cy="9525"/>
            </a:xfrm>
            <a:custGeom>
              <a:avLst/>
              <a:gdLst/>
              <a:ahLst/>
              <a:cxnLst/>
              <a:rect l="l" t="t" r="r" b="b"/>
              <a:pathLst>
                <a:path w="3067050" h="9525">
                  <a:moveTo>
                    <a:pt x="0" y="0"/>
                  </a:moveTo>
                  <a:lnTo>
                    <a:pt x="30670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370070" y="3368675"/>
              <a:ext cx="15373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定位、修复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73118" y="4235450"/>
              <a:ext cx="16577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交给 Agent 探索</a:t>
              </a:r>
            </a:p>
          </p:txBody>
        </p:sp>
      </p:grpSp>
      <p:grpSp>
        <p:nvGrpSpPr>
          <p:cNvPr id="19" name="owner"/>
          <p:cNvGrpSpPr/>
          <p:nvPr/>
        </p:nvGrpSpPr>
        <p:grpSpPr>
          <a:xfrm>
            <a:off x="8140446" y="2397125"/>
            <a:ext cx="3365754" cy="2161032"/>
            <a:chOff x="8140446" y="2397125"/>
            <a:chExt cx="3365754" cy="2161032"/>
          </a:xfrm>
        </p:grpSpPr>
        <p:sp>
          <p:nvSpPr>
            <p:cNvPr id="15" name="TextBox 15"/>
            <p:cNvSpPr txBox="1"/>
            <p:nvPr/>
          </p:nvSpPr>
          <p:spPr>
            <a:xfrm>
              <a:off x="8140446" y="2397125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责任判断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8153400" y="3000375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141970" y="3368675"/>
              <a:ext cx="15373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验收、授权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45018" y="4235450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明确规则与责任人</a:t>
              </a:r>
            </a:p>
          </p:txBody>
        </p:sp>
      </p:grpSp>
      <p:grpSp>
        <p:nvGrpSpPr>
          <p:cNvPr id="21" name="takeaway"/>
          <p:cNvGrpSpPr/>
          <p:nvPr/>
        </p:nvGrpSpPr>
        <p:grpSpPr>
          <a:xfrm>
            <a:off x="596646" y="5368925"/>
            <a:ext cx="6548247" cy="498729"/>
            <a:chOff x="596646" y="5368925"/>
            <a:chExt cx="6548247" cy="498729"/>
          </a:xfrm>
        </p:grpSpPr>
        <p:sp>
          <p:nvSpPr>
            <p:cNvPr id="20" name="TextBox 20"/>
            <p:cNvSpPr txBox="1"/>
            <p:nvPr/>
          </p:nvSpPr>
          <p:spPr>
            <a:xfrm>
              <a:off x="596646" y="5368925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每个节点都有明确的输入、产出和退出条件</a:t>
              </a:r>
            </a:p>
          </p:txBody>
        </p:sp>
      </p:grpSp>
      <p:sp>
        <p:nvSpPr>
          <p:cNvPr id="22" name="page"/>
          <p:cNvSpPr/>
          <p:nvPr/>
        </p:nvSpPr>
        <p:spPr>
          <a:xfrm>
            <a:off x="11322368" y="6305550"/>
            <a:ext cx="1899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56696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2074" y="581025"/>
            <a:ext cx="10972800" cy="1033907"/>
            <a:chOff x="592074" y="581025"/>
            <a:chExt cx="10972800" cy="1033907"/>
          </a:xfrm>
        </p:grpSpPr>
        <p:sp>
          <p:nvSpPr>
            <p:cNvPr id="2" name="TextBox 2"/>
            <p:cNvSpPr/>
            <p:nvPr/>
          </p:nvSpPr>
          <p:spPr>
            <a:xfrm>
              <a:off x="592074" y="581025"/>
              <a:ext cx="1097280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450" b="1" dirty="0">
                  <a:solidFill>
                    <a:srgbClr val="182B25"/>
                  </a:solidFill>
                  <a:latin typeface="Arial"/>
                  <a:ea typeface="Microsoft YaHei"/>
                  <a:cs typeface="Arial"/>
                </a:rPr>
                <a:t>任务契约的设计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218" y="1292225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设计示例：代码异味修复的任务契约</a:t>
              </a:r>
            </a:p>
          </p:txBody>
        </p:sp>
      </p:grpSp>
      <p:grpSp>
        <p:nvGrpSpPr>
          <p:cNvPr id="8" name="goal"/>
          <p:cNvGrpSpPr/>
          <p:nvPr/>
        </p:nvGrpSpPr>
        <p:grpSpPr>
          <a:xfrm>
            <a:off x="596646" y="2368550"/>
            <a:ext cx="3403854" cy="1651000"/>
            <a:chOff x="596646" y="2368550"/>
            <a:chExt cx="3403854" cy="1651000"/>
          </a:xfrm>
        </p:grpSpPr>
        <p:sp>
          <p:nvSpPr>
            <p:cNvPr id="5" name="TextBox 5"/>
            <p:cNvSpPr txBox="1"/>
            <p:nvPr/>
          </p:nvSpPr>
          <p:spPr>
            <a:xfrm>
              <a:off x="596646" y="2368550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修复这条异味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1218" y="3013075"/>
              <a:ext cx="1483614" cy="6656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这个目标还需要</a:t>
              </a:r>
              <a:b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进一步约定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609600" y="4010025"/>
              <a:ext cx="3390900" cy="9525"/>
            </a:xfrm>
            <a:custGeom>
              <a:avLst/>
              <a:gdLst/>
              <a:ahLst/>
              <a:cxnLst/>
              <a:rect l="l" t="t" r="r" b="b"/>
              <a:pathLst>
                <a:path w="3390900" h="9525">
                  <a:moveTo>
                    <a:pt x="0" y="0"/>
                  </a:moveTo>
                  <a:lnTo>
                    <a:pt x="33909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</p:grpSp>
      <p:grpSp>
        <p:nvGrpSpPr>
          <p:cNvPr id="13" name="contract"/>
          <p:cNvGrpSpPr/>
          <p:nvPr/>
        </p:nvGrpSpPr>
        <p:grpSpPr>
          <a:xfrm>
            <a:off x="5284470" y="2187575"/>
            <a:ext cx="3748468" cy="3240405"/>
            <a:chOff x="5284470" y="2187575"/>
            <a:chExt cx="3748468" cy="3240405"/>
          </a:xfrm>
        </p:grpSpPr>
        <p:sp>
          <p:nvSpPr>
            <p:cNvPr id="9" name="TextBox 9"/>
            <p:cNvSpPr txBox="1"/>
            <p:nvPr/>
          </p:nvSpPr>
          <p:spPr>
            <a:xfrm>
              <a:off x="5284470" y="2187575"/>
              <a:ext cx="374446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输入</a:t>
              </a: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异味 Key、仓库、基线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84470" y="3121025"/>
              <a:ext cx="298494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交付</a:t>
              </a: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补丁、PR 与说明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84470" y="4054475"/>
              <a:ext cx="283978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证据</a:t>
              </a: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检查与测试记录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84470" y="4987925"/>
              <a:ext cx="374846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停止</a:t>
              </a: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越权、阻塞、预算耗尽</a:t>
              </a:r>
            </a:p>
          </p:txBody>
        </p:sp>
      </p:grpSp>
      <p:sp>
        <p:nvSpPr>
          <p:cNvPr id="14" name="page"/>
          <p:cNvSpPr/>
          <p:nvPr/>
        </p:nvSpPr>
        <p:spPr>
          <a:xfrm>
            <a:off x="11322368" y="6305550"/>
            <a:ext cx="1899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56696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2074" y="581025"/>
            <a:ext cx="10972800" cy="1033907"/>
            <a:chOff x="592074" y="581025"/>
            <a:chExt cx="10972800" cy="1033907"/>
          </a:xfrm>
        </p:grpSpPr>
        <p:sp>
          <p:nvSpPr>
            <p:cNvPr id="2" name="TextBox 2"/>
            <p:cNvSpPr/>
            <p:nvPr/>
          </p:nvSpPr>
          <p:spPr>
            <a:xfrm>
              <a:off x="592074" y="581025"/>
              <a:ext cx="1097280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450" b="1" dirty="0">
                  <a:solidFill>
                    <a:srgbClr val="182B25"/>
                  </a:solidFill>
                  <a:latin typeface="Arial"/>
                  <a:ea typeface="Microsoft YaHei"/>
                  <a:cs typeface="Arial"/>
                </a:rPr>
                <a:t>外层编排与 Agent 的控制分工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218" y="1292225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当前职责结构</a:t>
              </a:r>
            </a:p>
          </p:txBody>
        </p:sp>
      </p:grpSp>
      <p:grpSp>
        <p:nvGrpSpPr>
          <p:cNvPr id="15" name="outer-control"/>
          <p:cNvGrpSpPr/>
          <p:nvPr/>
        </p:nvGrpSpPr>
        <p:grpSpPr>
          <a:xfrm>
            <a:off x="628650" y="2076450"/>
            <a:ext cx="10858500" cy="2895600"/>
            <a:chOff x="628650" y="2076450"/>
            <a:chExt cx="10858500" cy="2895600"/>
          </a:xfrm>
        </p:grpSpPr>
        <p:sp>
          <p:nvSpPr>
            <p:cNvPr id="5" name="Rectangle 5"/>
            <p:cNvSpPr/>
            <p:nvPr/>
          </p:nvSpPr>
          <p:spPr>
            <a:xfrm>
              <a:off x="628650" y="2076450"/>
              <a:ext cx="10858500" cy="2895600"/>
            </a:xfrm>
            <a:prstGeom prst="roundRect">
              <a:avLst>
                <a:gd name="adj" fmla="val 2632"/>
              </a:avLst>
            </a:pr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918" y="2320925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外层程序：阶段衔接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245870" y="3378200"/>
              <a:ext cx="6286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准备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761220" y="3378200"/>
              <a:ext cx="6286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交付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2190750" y="3552825"/>
              <a:ext cx="990600" cy="1"/>
            </a:xfrm>
            <a:prstGeom prst="line">
              <a:avLst/>
            </a:prstGeom>
            <a:noFill/>
            <a:ln w="19050">
              <a:solidFill>
                <a:srgbClr val="566960"/>
              </a:solidFill>
              <a:tailEnd type="triangle" w="lg" len="lg"/>
            </a:ln>
          </p:spPr>
        </p:sp>
        <p:sp>
          <p:nvSpPr>
            <p:cNvPr id="10" name="Line 10"/>
            <p:cNvSpPr/>
            <p:nvPr/>
          </p:nvSpPr>
          <p:spPr>
            <a:xfrm>
              <a:off x="8934450" y="3552825"/>
              <a:ext cx="581025" cy="1"/>
            </a:xfrm>
            <a:prstGeom prst="line">
              <a:avLst/>
            </a:prstGeom>
            <a:noFill/>
            <a:ln w="19050">
              <a:solidFill>
                <a:srgbClr val="566960"/>
              </a:solidFill>
              <a:tailEnd type="triangle" w="lg" len="lg"/>
            </a:ln>
          </p:spPr>
        </p:sp>
        <p:sp>
          <p:nvSpPr>
            <p:cNvPr id="11" name="Rectangle 11"/>
            <p:cNvSpPr/>
            <p:nvPr/>
          </p:nvSpPr>
          <p:spPr>
            <a:xfrm>
              <a:off x="3333750" y="2781300"/>
              <a:ext cx="5524500" cy="1781175"/>
            </a:xfrm>
            <a:prstGeom prst="roundRect">
              <a:avLst>
                <a:gd name="adj" fmla="val 4278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630168" y="3063875"/>
              <a:ext cx="24788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内层 Agent：阶段内探索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25596" y="3540125"/>
              <a:ext cx="33317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读代码 选工具 改代码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630168" y="4092575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依据工具反馈选择下一步</a:t>
              </a:r>
            </a:p>
          </p:txBody>
        </p:sp>
      </p:grpSp>
      <p:grpSp>
        <p:nvGrpSpPr>
          <p:cNvPr id="17" name="boundary-note"/>
          <p:cNvGrpSpPr/>
          <p:nvPr/>
        </p:nvGrpSpPr>
        <p:grpSpPr>
          <a:xfrm>
            <a:off x="598170" y="5464175"/>
            <a:ext cx="5777865" cy="440055"/>
            <a:chOff x="598170" y="5464175"/>
            <a:chExt cx="5777865" cy="440055"/>
          </a:xfrm>
        </p:grpSpPr>
        <p:sp>
          <p:nvSpPr>
            <p:cNvPr id="16" name="TextBox 16"/>
            <p:cNvSpPr txBox="1"/>
            <p:nvPr/>
          </p:nvSpPr>
          <p:spPr>
            <a:xfrm>
              <a:off x="598170" y="5464175"/>
              <a:ext cx="577786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职责划分之后，还需在执行端落实权限边界</a:t>
              </a:r>
            </a:p>
          </p:txBody>
        </p:sp>
      </p:grpSp>
      <p:sp>
        <p:nvSpPr>
          <p:cNvPr id="18" name="page"/>
          <p:cNvSpPr/>
          <p:nvPr/>
        </p:nvSpPr>
        <p:spPr>
          <a:xfrm>
            <a:off x="11322368" y="6305550"/>
            <a:ext cx="1899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56696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2074" y="581025"/>
            <a:ext cx="10972800" cy="1033907"/>
            <a:chOff x="592074" y="581025"/>
            <a:chExt cx="10972800" cy="1033907"/>
          </a:xfrm>
        </p:grpSpPr>
        <p:sp>
          <p:nvSpPr>
            <p:cNvPr id="2" name="TextBox 2"/>
            <p:cNvSpPr/>
            <p:nvPr/>
          </p:nvSpPr>
          <p:spPr>
            <a:xfrm>
              <a:off x="592074" y="581025"/>
              <a:ext cx="1097280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450" b="1" dirty="0">
                  <a:solidFill>
                    <a:srgbClr val="182B25"/>
                  </a:solidFill>
                  <a:latin typeface="Arial"/>
                  <a:ea typeface="Microsoft YaHei"/>
                  <a:cs typeface="Arial"/>
                </a:rPr>
                <a:t>有退出条件的工具循环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218" y="1292225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教学模型：有退出条件的工具循环</a:t>
              </a:r>
            </a:p>
          </p:txBody>
        </p:sp>
      </p:grpSp>
      <p:grpSp>
        <p:nvGrpSpPr>
          <p:cNvPr id="28" name="loop-system"/>
          <p:cNvGrpSpPr/>
          <p:nvPr/>
        </p:nvGrpSpPr>
        <p:grpSpPr>
          <a:xfrm>
            <a:off x="857250" y="2190750"/>
            <a:ext cx="9477375" cy="2916682"/>
            <a:chOff x="857250" y="2190750"/>
            <a:chExt cx="9477375" cy="2916682"/>
          </a:xfrm>
        </p:grpSpPr>
        <p:grpSp>
          <p:nvGrpSpPr>
            <p:cNvPr id="20" name="loop"/>
            <p:cNvGrpSpPr/>
            <p:nvPr/>
          </p:nvGrpSpPr>
          <p:grpSpPr>
            <a:xfrm>
              <a:off x="857250" y="2190750"/>
              <a:ext cx="6286500" cy="2857500"/>
              <a:chOff x="857250" y="2190750"/>
              <a:chExt cx="6286500" cy="2857500"/>
            </a:xfrm>
          </p:grpSpPr>
          <p:grpSp>
            <p:nvGrpSpPr>
              <p:cNvPr id="9" name="Group 9"/>
              <p:cNvGrpSpPr/>
              <p:nvPr/>
            </p:nvGrpSpPr>
            <p:grpSpPr>
              <a:xfrm>
                <a:off x="857250" y="2190750"/>
                <a:ext cx="6286500" cy="2857500"/>
                <a:chOff x="857250" y="2190750"/>
                <a:chExt cx="6286500" cy="2857500"/>
              </a:xfrm>
            </p:grpSpPr>
            <p:sp>
              <p:nvSpPr>
                <p:cNvPr id="5" name="Rectangle 5"/>
                <p:cNvSpPr/>
                <p:nvPr/>
              </p:nvSpPr>
              <p:spPr>
                <a:xfrm>
                  <a:off x="857250" y="2190750"/>
                  <a:ext cx="2476500" cy="809625"/>
                </a:xfrm>
                <a:prstGeom prst="roundRect">
                  <a:avLst>
                    <a:gd name="adj" fmla="val 9412"/>
                  </a:avLst>
                </a:prstGeom>
                <a:solidFill>
                  <a:schemeClr val="lt2"/>
                </a:solidFill>
                <a:ln>
                  <a:noFill/>
                </a:ln>
              </p:spPr>
            </p:sp>
            <p:sp>
              <p:nvSpPr>
                <p:cNvPr id="6" name="Rectangle 6"/>
                <p:cNvSpPr/>
                <p:nvPr/>
              </p:nvSpPr>
              <p:spPr>
                <a:xfrm>
                  <a:off x="4667250" y="2190750"/>
                  <a:ext cx="2476500" cy="809625"/>
                </a:xfrm>
                <a:prstGeom prst="roundRect">
                  <a:avLst>
                    <a:gd name="adj" fmla="val 9412"/>
                  </a:avLst>
                </a:prstGeom>
                <a:solidFill>
                  <a:schemeClr val="lt2"/>
                </a:solidFill>
                <a:ln>
                  <a:noFill/>
                </a:ln>
              </p:spPr>
            </p:sp>
            <p:sp>
              <p:nvSpPr>
                <p:cNvPr id="7" name="Rectangle 7"/>
                <p:cNvSpPr/>
                <p:nvPr/>
              </p:nvSpPr>
              <p:spPr>
                <a:xfrm>
                  <a:off x="4667250" y="4238625"/>
                  <a:ext cx="2476500" cy="809625"/>
                </a:xfrm>
                <a:prstGeom prst="roundRect">
                  <a:avLst>
                    <a:gd name="adj" fmla="val 9412"/>
                  </a:avLst>
                </a:prstGeom>
                <a:solidFill>
                  <a:schemeClr val="lt2"/>
                </a:solidFill>
                <a:ln>
                  <a:noFill/>
                </a:ln>
              </p:spPr>
            </p:sp>
            <p:sp>
              <p:nvSpPr>
                <p:cNvPr id="8" name="Rectangle 8"/>
                <p:cNvSpPr/>
                <p:nvPr/>
              </p:nvSpPr>
              <p:spPr>
                <a:xfrm>
                  <a:off x="857250" y="4238625"/>
                  <a:ext cx="2476500" cy="809625"/>
                </a:xfrm>
                <a:prstGeom prst="roundRect">
                  <a:avLst>
                    <a:gd name="adj" fmla="val 9412"/>
                  </a:avLst>
                </a:prstGeom>
                <a:solidFill>
                  <a:schemeClr val="lt2"/>
                </a:solidFill>
                <a:ln>
                  <a:noFill/>
                </a:ln>
              </p:spPr>
            </p:sp>
          </p:grpSp>
          <p:grpSp>
            <p:nvGrpSpPr>
              <p:cNvPr id="14" name="Group 14"/>
              <p:cNvGrpSpPr/>
              <p:nvPr/>
            </p:nvGrpSpPr>
            <p:grpSpPr>
              <a:xfrm>
                <a:off x="1326832" y="2416175"/>
                <a:ext cx="5195888" cy="2487930"/>
                <a:chOff x="1326832" y="2416175"/>
                <a:chExt cx="5195888" cy="2487930"/>
              </a:xfrm>
            </p:grpSpPr>
            <p:sp>
              <p:nvSpPr>
                <p:cNvPr id="10" name="TextBox 10"/>
                <p:cNvSpPr txBox="1"/>
                <p:nvPr/>
              </p:nvSpPr>
              <p:spPr>
                <a:xfrm>
                  <a:off x="1326832" y="2416175"/>
                  <a:ext cx="1537335" cy="44005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22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读取上下文</a:t>
                  </a:r>
                </a:p>
              </p:txBody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5288280" y="2416175"/>
                  <a:ext cx="1234440" cy="44005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22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选择工具</a:t>
                  </a:r>
                </a:p>
              </p:txBody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5288280" y="4464050"/>
                  <a:ext cx="1234440" cy="44005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22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观察结果</a:t>
                  </a:r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1478280" y="4464050"/>
                  <a:ext cx="1234440" cy="44005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22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调整方案</a:t>
                  </a:r>
                </a:p>
              </p:txBody>
            </p:sp>
          </p:grpSp>
          <p:grpSp>
            <p:nvGrpSpPr>
              <p:cNvPr id="19" name="Group 19"/>
              <p:cNvGrpSpPr/>
              <p:nvPr/>
            </p:nvGrpSpPr>
            <p:grpSpPr>
              <a:xfrm>
                <a:off x="2095500" y="2590800"/>
                <a:ext cx="3810001" cy="2057401"/>
                <a:chOff x="2095500" y="2590800"/>
                <a:chExt cx="3810001" cy="2057401"/>
              </a:xfrm>
            </p:grpSpPr>
            <p:sp>
              <p:nvSpPr>
                <p:cNvPr id="15" name="Line 15"/>
                <p:cNvSpPr/>
                <p:nvPr/>
              </p:nvSpPr>
              <p:spPr>
                <a:xfrm>
                  <a:off x="3333750" y="2590800"/>
                  <a:ext cx="1304925" cy="1"/>
                </a:xfrm>
                <a:prstGeom prst="line">
                  <a:avLst/>
                </a:prstGeom>
                <a:noFill/>
                <a:ln w="19050">
                  <a:solidFill>
                    <a:srgbClr val="566960"/>
                  </a:solidFill>
                  <a:tailEnd type="triangle" w="lg" len="lg"/>
                </a:ln>
              </p:spPr>
            </p:sp>
            <p:sp>
              <p:nvSpPr>
                <p:cNvPr id="16" name="Line 16"/>
                <p:cNvSpPr/>
                <p:nvPr/>
              </p:nvSpPr>
              <p:spPr>
                <a:xfrm>
                  <a:off x="5905500" y="3000375"/>
                  <a:ext cx="1" cy="1190625"/>
                </a:xfrm>
                <a:prstGeom prst="line">
                  <a:avLst/>
                </a:prstGeom>
                <a:noFill/>
                <a:ln w="19050">
                  <a:solidFill>
                    <a:srgbClr val="566960"/>
                  </a:solidFill>
                  <a:tailEnd type="triangle" w="lg" len="lg"/>
                </a:ln>
              </p:spPr>
            </p:sp>
            <p:sp>
              <p:nvSpPr>
                <p:cNvPr id="17" name="Line 17"/>
                <p:cNvSpPr/>
                <p:nvPr/>
              </p:nvSpPr>
              <p:spPr>
                <a:xfrm flipH="1">
                  <a:off x="3362325" y="4648200"/>
                  <a:ext cx="1304925" cy="1"/>
                </a:xfrm>
                <a:prstGeom prst="line">
                  <a:avLst/>
                </a:prstGeom>
                <a:noFill/>
                <a:ln w="19050">
                  <a:solidFill>
                    <a:srgbClr val="566960"/>
                  </a:solidFill>
                  <a:tailEnd type="triangle" w="lg" len="lg"/>
                </a:ln>
              </p:spPr>
            </p:sp>
            <p:sp>
              <p:nvSpPr>
                <p:cNvPr id="18" name="Line 18"/>
                <p:cNvSpPr/>
                <p:nvPr/>
              </p:nvSpPr>
              <p:spPr>
                <a:xfrm flipV="1">
                  <a:off x="2095500" y="3038475"/>
                  <a:ext cx="1" cy="1200150"/>
                </a:xfrm>
                <a:prstGeom prst="line">
                  <a:avLst/>
                </a:prstGeom>
                <a:noFill/>
                <a:ln w="19050">
                  <a:solidFill>
                    <a:srgbClr val="566960"/>
                  </a:solidFill>
                  <a:tailEnd type="triangle" w="lg" len="lg"/>
                </a:ln>
              </p:spPr>
            </p:sp>
          </p:grpSp>
        </p:grpSp>
        <p:sp>
          <p:nvSpPr>
            <p:cNvPr id="21" name="Freeform 21"/>
            <p:cNvSpPr/>
            <p:nvPr/>
          </p:nvSpPr>
          <p:spPr>
            <a:xfrm>
              <a:off x="8048625" y="2619375"/>
              <a:ext cx="2286000" cy="1476375"/>
            </a:xfrm>
            <a:prstGeom prst="flowChartDecision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grpSp>
          <p:nvGrpSpPr>
            <p:cNvPr id="27" name="exit-check"/>
            <p:cNvGrpSpPr/>
            <p:nvPr/>
          </p:nvGrpSpPr>
          <p:grpSpPr>
            <a:xfrm>
              <a:off x="5905500" y="2197100"/>
              <a:ext cx="3761232" cy="2910332"/>
              <a:chOff x="5905500" y="2197100"/>
              <a:chExt cx="3761232" cy="2910332"/>
            </a:xfrm>
          </p:grpSpPr>
          <p:sp>
            <p:nvSpPr>
              <p:cNvPr id="22" name="Line 22"/>
              <p:cNvSpPr/>
              <p:nvPr/>
            </p:nvSpPr>
            <p:spPr>
              <a:xfrm>
                <a:off x="5905500" y="3362325"/>
                <a:ext cx="2114550" cy="1"/>
              </a:xfrm>
              <a:prstGeom prst="line">
                <a:avLst/>
              </a:prstGeom>
              <a:noFill/>
              <a:ln w="19050">
                <a:solidFill>
                  <a:srgbClr val="566960"/>
                </a:solidFill>
                <a:tailEnd type="triangle" w="lg" len="lg"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689979" y="3057525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每轮检查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738997" y="3273425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退出条件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973568" y="2197100"/>
                <a:ext cx="157162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满足验收：交付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973568" y="4460875"/>
                <a:ext cx="1693164" cy="6465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550"/>
                  </a:lnSpc>
                </a:pPr>
                <a:r>
                  <a:rPr lang="zh-CN" sz="16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预算或权限受限：</a:t>
                </a:r>
                <a:br>
                  <a:rPr lang="zh-CN" sz="16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6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停止并报告阻塞</a:t>
                </a:r>
              </a:p>
            </p:txBody>
          </p:sp>
        </p:grpSp>
      </p:grpSp>
      <p:grpSp>
        <p:nvGrpSpPr>
          <p:cNvPr id="30" name="takeaway"/>
          <p:cNvGrpSpPr/>
          <p:nvPr/>
        </p:nvGrpSpPr>
        <p:grpSpPr>
          <a:xfrm>
            <a:off x="598170" y="5578475"/>
            <a:ext cx="4869180" cy="440055"/>
            <a:chOff x="598170" y="5578475"/>
            <a:chExt cx="4869180" cy="440055"/>
          </a:xfrm>
        </p:grpSpPr>
        <p:sp>
          <p:nvSpPr>
            <p:cNvPr id="29" name="TextBox 29"/>
            <p:cNvSpPr txBox="1"/>
            <p:nvPr/>
          </p:nvSpPr>
          <p:spPr>
            <a:xfrm>
              <a:off x="598170" y="5578475"/>
              <a:ext cx="486918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工具输出是一轮观察，决定后续行动</a:t>
              </a:r>
            </a:p>
          </p:txBody>
        </p:sp>
      </p:grpSp>
      <p:sp>
        <p:nvSpPr>
          <p:cNvPr id="31" name="page"/>
          <p:cNvSpPr/>
          <p:nvPr/>
        </p:nvSpPr>
        <p:spPr>
          <a:xfrm>
            <a:off x="11322368" y="6305550"/>
            <a:ext cx="1899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56696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2074" y="581025"/>
            <a:ext cx="10972800" cy="1033907"/>
            <a:chOff x="592074" y="581025"/>
            <a:chExt cx="10972800" cy="1033907"/>
          </a:xfrm>
        </p:grpSpPr>
        <p:sp>
          <p:nvSpPr>
            <p:cNvPr id="2" name="TextBox 2"/>
            <p:cNvSpPr/>
            <p:nvPr/>
          </p:nvSpPr>
          <p:spPr>
            <a:xfrm>
              <a:off x="592074" y="581025"/>
              <a:ext cx="1097280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450" b="1" dirty="0">
                  <a:solidFill>
                    <a:srgbClr val="182B25"/>
                  </a:solidFill>
                  <a:latin typeface="Arial"/>
                  <a:ea typeface="Microsoft YaHei"/>
                  <a:cs typeface="Arial"/>
                </a:rPr>
                <a:t>Agent 的能力边界与权限控制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218" y="129222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设计建议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876300" y="2114550"/>
            <a:ext cx="523875" cy="2952750"/>
          </a:xfrm>
          <a:prstGeom prst="leftBrace">
            <a:avLst/>
          </a:prstGeom>
          <a:noFill/>
          <a:ln w="28575">
            <a:solidFill>
              <a:schemeClr val="accent2"/>
            </a:solidFill>
          </a:ln>
        </p:spPr>
      </p:sp>
      <p:grpSp>
        <p:nvGrpSpPr>
          <p:cNvPr id="10" name="allowed-zone"/>
          <p:cNvGrpSpPr/>
          <p:nvPr/>
        </p:nvGrpSpPr>
        <p:grpSpPr>
          <a:xfrm>
            <a:off x="1730121" y="2254250"/>
            <a:ext cx="2750439" cy="2542032"/>
            <a:chOff x="1730121" y="2254250"/>
            <a:chExt cx="2750439" cy="2542032"/>
          </a:xfrm>
        </p:grpSpPr>
        <p:sp>
          <p:nvSpPr>
            <p:cNvPr id="6" name="TextBox 6"/>
            <p:cNvSpPr txBox="1"/>
            <p:nvPr/>
          </p:nvSpPr>
          <p:spPr>
            <a:xfrm>
              <a:off x="1730121" y="2254250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任务内部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731645" y="3035300"/>
              <a:ext cx="2748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指定仓库读、改、测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34693" y="3797300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工具名单与参数范围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34693" y="4473575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时间、轮数与成本预算</a:t>
              </a:r>
            </a:p>
          </p:txBody>
        </p:sp>
      </p:grpSp>
      <p:grpSp>
        <p:nvGrpSpPr>
          <p:cNvPr id="15" name="external-zone"/>
          <p:cNvGrpSpPr/>
          <p:nvPr/>
        </p:nvGrpSpPr>
        <p:grpSpPr>
          <a:xfrm>
            <a:off x="7400925" y="2124075"/>
            <a:ext cx="4086225" cy="2924175"/>
            <a:chOff x="7400925" y="2124075"/>
            <a:chExt cx="4086225" cy="2924175"/>
          </a:xfrm>
        </p:grpSpPr>
        <p:sp>
          <p:nvSpPr>
            <p:cNvPr id="11" name="Rectangle 11"/>
            <p:cNvSpPr/>
            <p:nvPr/>
          </p:nvSpPr>
          <p:spPr>
            <a:xfrm>
              <a:off x="7400925" y="2124075"/>
              <a:ext cx="4086225" cy="2924175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  <a:prstDash val="lgDash"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54671" y="2254250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外部动作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56195" y="3035300"/>
              <a:ext cx="2446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推送、合并、发布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59243" y="3746500"/>
              <a:ext cx="1693164" cy="6656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依据任务授权</a:t>
              </a:r>
              <a:b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由受控执行器操作</a:t>
              </a:r>
            </a:p>
          </p:txBody>
        </p:sp>
      </p:grpSp>
      <p:grpSp>
        <p:nvGrpSpPr>
          <p:cNvPr id="17" name="takeaway"/>
          <p:cNvGrpSpPr/>
          <p:nvPr/>
        </p:nvGrpSpPr>
        <p:grpSpPr>
          <a:xfrm>
            <a:off x="598170" y="5559425"/>
            <a:ext cx="4566285" cy="440055"/>
            <a:chOff x="598170" y="5559425"/>
            <a:chExt cx="4566285" cy="440055"/>
          </a:xfrm>
        </p:grpSpPr>
        <p:sp>
          <p:nvSpPr>
            <p:cNvPr id="16" name="TextBox 16"/>
            <p:cNvSpPr txBox="1"/>
            <p:nvPr/>
          </p:nvSpPr>
          <p:spPr>
            <a:xfrm>
              <a:off x="598170" y="5559425"/>
              <a:ext cx="456628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提示词表达意图，工具端落实限制</a:t>
              </a:r>
            </a:p>
          </p:txBody>
        </p:sp>
      </p:grpSp>
      <p:sp>
        <p:nvSpPr>
          <p:cNvPr id="18" name="page"/>
          <p:cNvSpPr/>
          <p:nvPr/>
        </p:nvSpPr>
        <p:spPr>
          <a:xfrm>
            <a:off x="11322368" y="6305550"/>
            <a:ext cx="1899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56696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2074" y="581025"/>
            <a:ext cx="10972800" cy="1033907"/>
            <a:chOff x="592074" y="581025"/>
            <a:chExt cx="10972800" cy="1033907"/>
          </a:xfrm>
        </p:grpSpPr>
        <p:sp>
          <p:nvSpPr>
            <p:cNvPr id="2" name="TextBox 2"/>
            <p:cNvSpPr/>
            <p:nvPr/>
          </p:nvSpPr>
          <p:spPr>
            <a:xfrm>
              <a:off x="592074" y="581025"/>
              <a:ext cx="1097280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450" b="1" dirty="0">
                  <a:solidFill>
                    <a:srgbClr val="182B25"/>
                  </a:solidFill>
                  <a:latin typeface="Arial"/>
                  <a:ea typeface="Microsoft YaHei"/>
                  <a:cs typeface="Arial"/>
                </a:rPr>
                <a:t>Agent 系统的组件分工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218" y="1292225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概念分工，用项目中的职责理解术语</a:t>
              </a:r>
            </a:p>
          </p:txBody>
        </p:sp>
      </p:grpSp>
      <p:grpSp>
        <p:nvGrpSpPr>
          <p:cNvPr id="13" name="runtime-layers"/>
          <p:cNvGrpSpPr/>
          <p:nvPr/>
        </p:nvGrpSpPr>
        <p:grpSpPr>
          <a:xfrm>
            <a:off x="609600" y="2095500"/>
            <a:ext cx="6762750" cy="2924175"/>
            <a:chOff x="609600" y="2095500"/>
            <a:chExt cx="6762750" cy="2924175"/>
          </a:xfrm>
        </p:grpSpPr>
        <p:sp>
          <p:nvSpPr>
            <p:cNvPr id="5" name="Rectangle 5"/>
            <p:cNvSpPr/>
            <p:nvPr/>
          </p:nvSpPr>
          <p:spPr>
            <a:xfrm>
              <a:off x="609600" y="2095500"/>
              <a:ext cx="6762750" cy="809625"/>
            </a:xfrm>
            <a:prstGeom prst="roundRect">
              <a:avLst>
                <a:gd name="adj" fmla="val 941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45820" y="2320925"/>
              <a:ext cx="301677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Workflow 阶段与状态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09600" y="3152775"/>
              <a:ext cx="6762750" cy="809625"/>
            </a:xfrm>
            <a:prstGeom prst="roundRect">
              <a:avLst>
                <a:gd name="adj" fmla="val 9412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45820" y="3378200"/>
              <a:ext cx="247162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Agent 下一步行动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09600" y="4210050"/>
              <a:ext cx="6762750" cy="809625"/>
            </a:xfrm>
            <a:prstGeom prst="roundRect">
              <a:avLst>
                <a:gd name="adj" fmla="val 941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820" y="4435475"/>
              <a:ext cx="192559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Tool 具体操作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4000500" y="2905125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19050">
              <a:solidFill>
                <a:srgbClr val="566960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4000500" y="396240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19050">
              <a:solidFill>
                <a:srgbClr val="566960"/>
              </a:solidFill>
            </a:ln>
          </p:spPr>
        </p:sp>
      </p:grpSp>
      <p:grpSp>
        <p:nvGrpSpPr>
          <p:cNvPr id="20" name="support"/>
          <p:cNvGrpSpPr/>
          <p:nvPr/>
        </p:nvGrpSpPr>
        <p:grpSpPr>
          <a:xfrm>
            <a:off x="7620000" y="3082925"/>
            <a:ext cx="1836420" cy="1970532"/>
            <a:chOff x="7620000" y="3082925"/>
            <a:chExt cx="1836420" cy="1970532"/>
          </a:xfrm>
        </p:grpSpPr>
        <p:sp>
          <p:nvSpPr>
            <p:cNvPr id="14" name="TextBox 14"/>
            <p:cNvSpPr txBox="1"/>
            <p:nvPr/>
          </p:nvSpPr>
          <p:spPr>
            <a:xfrm>
              <a:off x="8102346" y="3082925"/>
              <a:ext cx="9537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06918" y="359727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规范与经验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102346" y="4216400"/>
              <a:ext cx="7304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MCP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06918" y="473075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连接外部系统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7620000" y="3552825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7620000" y="461010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</p:grpSp>
      <p:grpSp>
        <p:nvGrpSpPr>
          <p:cNvPr id="23" name="harness"/>
          <p:cNvGrpSpPr/>
          <p:nvPr/>
        </p:nvGrpSpPr>
        <p:grpSpPr>
          <a:xfrm>
            <a:off x="598170" y="5476875"/>
            <a:ext cx="10908030" cy="627380"/>
            <a:chOff x="598170" y="5476875"/>
            <a:chExt cx="10908030" cy="627380"/>
          </a:xfrm>
        </p:grpSpPr>
        <p:sp>
          <p:nvSpPr>
            <p:cNvPr id="21" name="Line 21"/>
            <p:cNvSpPr/>
            <p:nvPr/>
          </p:nvSpPr>
          <p:spPr>
            <a:xfrm>
              <a:off x="609600" y="5476875"/>
              <a:ext cx="10896600" cy="9525"/>
            </a:xfrm>
            <a:custGeom>
              <a:avLst/>
              <a:gdLst/>
              <a:ahLst/>
              <a:cxnLst/>
              <a:rect l="l" t="t" r="r" b="b"/>
              <a:pathLst>
                <a:path w="10896600" h="9525">
                  <a:moveTo>
                    <a:pt x="0" y="0"/>
                  </a:moveTo>
                  <a:lnTo>
                    <a:pt x="108966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98170" y="5664200"/>
              <a:ext cx="525357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Harness：为 Agent 执行提供运行支撑</a:t>
              </a:r>
            </a:p>
          </p:txBody>
        </p:sp>
      </p:grpSp>
      <p:sp>
        <p:nvSpPr>
          <p:cNvPr id="24" name="page"/>
          <p:cNvSpPr/>
          <p:nvPr/>
        </p:nvSpPr>
        <p:spPr>
          <a:xfrm>
            <a:off x="11322368" y="6305550"/>
            <a:ext cx="1899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56696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2074" y="581025"/>
            <a:ext cx="10972800" cy="1033907"/>
            <a:chOff x="592074" y="581025"/>
            <a:chExt cx="10972800" cy="1033907"/>
          </a:xfrm>
        </p:grpSpPr>
        <p:sp>
          <p:nvSpPr>
            <p:cNvPr id="2" name="TextBox 2"/>
            <p:cNvSpPr/>
            <p:nvPr/>
          </p:nvSpPr>
          <p:spPr>
            <a:xfrm>
              <a:off x="592074" y="581025"/>
              <a:ext cx="1097280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450" b="1" dirty="0">
                  <a:solidFill>
                    <a:srgbClr val="182B25"/>
                  </a:solidFill>
                  <a:latin typeface="Arial"/>
                  <a:ea typeface="Microsoft YaHei"/>
                  <a:cs typeface="Arial"/>
                </a:rPr>
                <a:t>上下文、任务状态与运行日志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218" y="1292225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上下文、状态和日志，各有用途</a:t>
              </a:r>
            </a:p>
          </p:txBody>
        </p:sp>
      </p:grpSp>
      <p:grpSp>
        <p:nvGrpSpPr>
          <p:cNvPr id="8" name="context"/>
          <p:cNvGrpSpPr/>
          <p:nvPr/>
        </p:nvGrpSpPr>
        <p:grpSpPr>
          <a:xfrm>
            <a:off x="596646" y="2378075"/>
            <a:ext cx="2144649" cy="1751457"/>
            <a:chOff x="596646" y="2378075"/>
            <a:chExt cx="2144649" cy="1751457"/>
          </a:xfrm>
        </p:grpSpPr>
        <p:sp>
          <p:nvSpPr>
            <p:cNvPr id="5" name="TextBox 5"/>
            <p:cNvSpPr txBox="1"/>
            <p:nvPr/>
          </p:nvSpPr>
          <p:spPr>
            <a:xfrm>
              <a:off x="596646" y="2378075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上下文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8170" y="3101975"/>
              <a:ext cx="214312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当前问题与代码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218" y="380682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支持这一轮推理</a:t>
              </a:r>
            </a:p>
          </p:txBody>
        </p:sp>
      </p:grpSp>
      <p:grpSp>
        <p:nvGrpSpPr>
          <p:cNvPr id="12" name="state"/>
          <p:cNvGrpSpPr/>
          <p:nvPr/>
        </p:nvGrpSpPr>
        <p:grpSpPr>
          <a:xfrm>
            <a:off x="4387596" y="2378075"/>
            <a:ext cx="2447544" cy="1751457"/>
            <a:chOff x="4387596" y="2378075"/>
            <a:chExt cx="2447544" cy="1751457"/>
          </a:xfrm>
        </p:grpSpPr>
        <p:sp>
          <p:nvSpPr>
            <p:cNvPr id="9" name="TextBox 9"/>
            <p:cNvSpPr txBox="1"/>
            <p:nvPr/>
          </p:nvSpPr>
          <p:spPr>
            <a:xfrm>
              <a:off x="4387596" y="2378075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任务状态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389120" y="3101975"/>
              <a:ext cx="2446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阶段、产物、阻塞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392168" y="3806825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决定接下来能做什么</a:t>
              </a:r>
            </a:p>
          </p:txBody>
        </p:sp>
      </p:grpSp>
      <p:grpSp>
        <p:nvGrpSpPr>
          <p:cNvPr id="16" name="logs"/>
          <p:cNvGrpSpPr/>
          <p:nvPr/>
        </p:nvGrpSpPr>
        <p:grpSpPr>
          <a:xfrm>
            <a:off x="8178546" y="2378075"/>
            <a:ext cx="1576197" cy="1751457"/>
            <a:chOff x="8178546" y="2378075"/>
            <a:chExt cx="1576197" cy="1751457"/>
          </a:xfrm>
        </p:grpSpPr>
        <p:sp>
          <p:nvSpPr>
            <p:cNvPr id="13" name="TextBox 13"/>
            <p:cNvSpPr txBox="1"/>
            <p:nvPr/>
          </p:nvSpPr>
          <p:spPr>
            <a:xfrm>
              <a:off x="8178546" y="2378075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运行日志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80070" y="3101975"/>
              <a:ext cx="15373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发生过什么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83118" y="380682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支持追溯和排查</a:t>
              </a:r>
            </a:p>
          </p:txBody>
        </p:sp>
      </p:grpSp>
      <p:grpSp>
        <p:nvGrpSpPr>
          <p:cNvPr id="20" name="current-boundary"/>
          <p:cNvGrpSpPr/>
          <p:nvPr/>
        </p:nvGrpSpPr>
        <p:grpSpPr>
          <a:xfrm>
            <a:off x="598170" y="4838700"/>
            <a:ext cx="10908030" cy="1151255"/>
            <a:chOff x="598170" y="4838700"/>
            <a:chExt cx="10908030" cy="1151255"/>
          </a:xfrm>
        </p:grpSpPr>
        <p:sp>
          <p:nvSpPr>
            <p:cNvPr id="17" name="Line 17"/>
            <p:cNvSpPr/>
            <p:nvPr/>
          </p:nvSpPr>
          <p:spPr>
            <a:xfrm>
              <a:off x="609600" y="4838700"/>
              <a:ext cx="10896600" cy="9525"/>
            </a:xfrm>
            <a:custGeom>
              <a:avLst/>
              <a:gdLst/>
              <a:ahLst/>
              <a:cxnLst/>
              <a:rect l="l" t="t" r="r" b="b"/>
              <a:pathLst>
                <a:path w="10896600" h="9525">
                  <a:moveTo>
                    <a:pt x="0" y="0"/>
                  </a:moveTo>
                  <a:lnTo>
                    <a:pt x="10896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1218" y="5111750"/>
              <a:ext cx="40977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当前：WorkflowState + JSON 处理记录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98170" y="5549900"/>
              <a:ext cx="63836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跨进程恢复，还需要明确的持久状态与恢复协议</a:t>
              </a:r>
            </a:p>
          </p:txBody>
        </p:sp>
      </p:grpSp>
      <p:sp>
        <p:nvSpPr>
          <p:cNvPr id="21" name="page"/>
          <p:cNvSpPr/>
          <p:nvPr/>
        </p:nvSpPr>
        <p:spPr>
          <a:xfrm>
            <a:off x="11322368" y="6305550"/>
            <a:ext cx="1899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56696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2074" y="581025"/>
            <a:ext cx="10972800" cy="1033907"/>
            <a:chOff x="592074" y="581025"/>
            <a:chExt cx="10972800" cy="1033907"/>
          </a:xfrm>
        </p:grpSpPr>
        <p:sp>
          <p:nvSpPr>
            <p:cNvPr id="2" name="TextBox 2"/>
            <p:cNvSpPr/>
            <p:nvPr/>
          </p:nvSpPr>
          <p:spPr>
            <a:xfrm>
              <a:off x="592074" y="581025"/>
              <a:ext cx="1097280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450" b="1" dirty="0">
                  <a:solidFill>
                    <a:srgbClr val="182B25"/>
                  </a:solidFill>
                  <a:latin typeface="Arial"/>
                  <a:ea typeface="Microsoft YaHei"/>
                  <a:cs typeface="Arial"/>
                </a:rPr>
                <a:t>多 Agent 的拆分依据与协作成本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218" y="129222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设计取舍：每个新角色都要有可验证的价值</a:t>
              </a:r>
            </a:p>
          </p:txBody>
        </p:sp>
      </p:grpSp>
      <p:grpSp>
        <p:nvGrpSpPr>
          <p:cNvPr id="9" name="benefits"/>
          <p:cNvGrpSpPr/>
          <p:nvPr/>
        </p:nvGrpSpPr>
        <p:grpSpPr>
          <a:xfrm>
            <a:off x="596646" y="2197100"/>
            <a:ext cx="3053334" cy="2649855"/>
            <a:chOff x="596646" y="2197100"/>
            <a:chExt cx="3053334" cy="2649855"/>
          </a:xfrm>
        </p:grpSpPr>
        <p:sp>
          <p:nvSpPr>
            <p:cNvPr id="5" name="TextBox 5"/>
            <p:cNvSpPr txBox="1"/>
            <p:nvPr/>
          </p:nvSpPr>
          <p:spPr>
            <a:xfrm>
              <a:off x="596646" y="2197100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拆分的理由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8170" y="3035300"/>
              <a:ext cx="2446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子任务可独立验证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8170" y="3721100"/>
              <a:ext cx="305181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上下文或权限需要隔离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8170" y="4406900"/>
              <a:ext cx="2446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工作可以真正并行</a:t>
              </a:r>
            </a:p>
          </p:txBody>
        </p:sp>
      </p:grpSp>
      <p:grpSp>
        <p:nvGrpSpPr>
          <p:cNvPr id="14" name="costs"/>
          <p:cNvGrpSpPr/>
          <p:nvPr/>
        </p:nvGrpSpPr>
        <p:grpSpPr>
          <a:xfrm>
            <a:off x="7607046" y="2197100"/>
            <a:ext cx="1742313" cy="2649855"/>
            <a:chOff x="7607046" y="2197100"/>
            <a:chExt cx="1742313" cy="2649855"/>
          </a:xfrm>
        </p:grpSpPr>
        <p:sp>
          <p:nvSpPr>
            <p:cNvPr id="10" name="TextBox 10"/>
            <p:cNvSpPr txBox="1"/>
            <p:nvPr/>
          </p:nvSpPr>
          <p:spPr>
            <a:xfrm>
              <a:off x="7607046" y="2197100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增加的成本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08570" y="3035300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交接信息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08570" y="3721100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协调冲突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08570" y="4406900"/>
              <a:ext cx="15373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调用与等待</a:t>
              </a:r>
            </a:p>
          </p:txBody>
        </p:sp>
      </p:grpSp>
      <p:grpSp>
        <p:nvGrpSpPr>
          <p:cNvPr id="17" name="takeaway"/>
          <p:cNvGrpSpPr/>
          <p:nvPr/>
        </p:nvGrpSpPr>
        <p:grpSpPr>
          <a:xfrm>
            <a:off x="598170" y="5343525"/>
            <a:ext cx="10908030" cy="627380"/>
            <a:chOff x="598170" y="5343525"/>
            <a:chExt cx="10908030" cy="627380"/>
          </a:xfrm>
        </p:grpSpPr>
        <p:sp>
          <p:nvSpPr>
            <p:cNvPr id="15" name="Line 15"/>
            <p:cNvSpPr/>
            <p:nvPr/>
          </p:nvSpPr>
          <p:spPr>
            <a:xfrm>
              <a:off x="609600" y="5343525"/>
              <a:ext cx="10896600" cy="9525"/>
            </a:xfrm>
            <a:custGeom>
              <a:avLst/>
              <a:gdLst/>
              <a:ahLst/>
              <a:cxnLst/>
              <a:rect l="l" t="t" r="r" b="b"/>
              <a:pathLst>
                <a:path w="10896600" h="9525">
                  <a:moveTo>
                    <a:pt x="0" y="0"/>
                  </a:moveTo>
                  <a:lnTo>
                    <a:pt x="10896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98170" y="5530850"/>
              <a:ext cx="577332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加一个 Reviewer 后，漏检是否真的减少？</a:t>
              </a:r>
            </a:p>
          </p:txBody>
        </p:sp>
      </p:grpSp>
      <p:sp>
        <p:nvSpPr>
          <p:cNvPr id="18" name="page"/>
          <p:cNvSpPr/>
          <p:nvPr/>
        </p:nvSpPr>
        <p:spPr>
          <a:xfrm>
            <a:off x="11322368" y="6305550"/>
            <a:ext cx="1899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56696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2074" y="581025"/>
            <a:ext cx="10972800" cy="1033907"/>
            <a:chOff x="592074" y="581025"/>
            <a:chExt cx="10972800" cy="1033907"/>
          </a:xfrm>
        </p:grpSpPr>
        <p:sp>
          <p:nvSpPr>
            <p:cNvPr id="2" name="TextBox 2"/>
            <p:cNvSpPr/>
            <p:nvPr/>
          </p:nvSpPr>
          <p:spPr>
            <a:xfrm>
              <a:off x="592074" y="581025"/>
              <a:ext cx="1097280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450" b="1" dirty="0">
                  <a:solidFill>
                    <a:srgbClr val="182B25"/>
                  </a:solidFill>
                  <a:latin typeface="Arial"/>
                  <a:ea typeface="Microsoft YaHei"/>
                  <a:cs typeface="Arial"/>
                </a:rPr>
                <a:t>Agent 编排方案与框架选型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218" y="1292225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选型从当前缺口出发</a:t>
              </a:r>
            </a:p>
          </p:txBody>
        </p:sp>
      </p:grpSp>
      <p:grpSp>
        <p:nvGrpSpPr>
          <p:cNvPr id="8" name="python"/>
          <p:cNvGrpSpPr/>
          <p:nvPr/>
        </p:nvGrpSpPr>
        <p:grpSpPr>
          <a:xfrm>
            <a:off x="592074" y="2244725"/>
            <a:ext cx="1802892" cy="1913382"/>
            <a:chOff x="592074" y="2244725"/>
            <a:chExt cx="1802892" cy="1913382"/>
          </a:xfrm>
        </p:grpSpPr>
        <p:sp>
          <p:nvSpPr>
            <p:cNvPr id="5" name="TextBox 5"/>
            <p:cNvSpPr txBox="1"/>
            <p:nvPr/>
          </p:nvSpPr>
          <p:spPr>
            <a:xfrm>
              <a:off x="592074" y="2244725"/>
              <a:ext cx="1659515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Python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8170" y="3197225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固定步骤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218" y="3835400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业务顺序直接表达</a:t>
              </a:r>
            </a:p>
          </p:txBody>
        </p:sp>
      </p:grpSp>
      <p:grpSp>
        <p:nvGrpSpPr>
          <p:cNvPr id="12" name="maf"/>
          <p:cNvGrpSpPr/>
          <p:nvPr/>
        </p:nvGrpSpPr>
        <p:grpSpPr>
          <a:xfrm>
            <a:off x="4354449" y="2244725"/>
            <a:ext cx="2174824" cy="1913382"/>
            <a:chOff x="4354449" y="2244725"/>
            <a:chExt cx="2174824" cy="1913382"/>
          </a:xfrm>
        </p:grpSpPr>
        <p:sp>
          <p:nvSpPr>
            <p:cNvPr id="9" name="TextBox 9"/>
            <p:cNvSpPr txBox="1"/>
            <p:nvPr/>
          </p:nvSpPr>
          <p:spPr>
            <a:xfrm>
              <a:off x="4354449" y="2244725"/>
              <a:ext cx="988291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MAF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360545" y="3197225"/>
              <a:ext cx="216872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工具循环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363593" y="3835400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减少循环与路由样板</a:t>
              </a:r>
            </a:p>
          </p:txBody>
        </p:sp>
      </p:grpSp>
      <p:grpSp>
        <p:nvGrpSpPr>
          <p:cNvPr id="16" name="graph"/>
          <p:cNvGrpSpPr/>
          <p:nvPr/>
        </p:nvGrpSpPr>
        <p:grpSpPr>
          <a:xfrm>
            <a:off x="8116824" y="2244725"/>
            <a:ext cx="2479337" cy="1913382"/>
            <a:chOff x="8116824" y="2244725"/>
            <a:chExt cx="2479337" cy="1913382"/>
          </a:xfrm>
        </p:grpSpPr>
        <p:sp>
          <p:nvSpPr>
            <p:cNvPr id="13" name="TextBox 13"/>
            <p:cNvSpPr txBox="1"/>
            <p:nvPr/>
          </p:nvSpPr>
          <p:spPr>
            <a:xfrm>
              <a:off x="8116824" y="2244725"/>
              <a:ext cx="2479337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LangGraph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22920" y="3197225"/>
              <a:ext cx="214312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显式状态与路由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25968" y="3835400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表达分支、等待与恢复</a:t>
              </a:r>
            </a:p>
          </p:txBody>
        </p:sp>
      </p:grpSp>
      <p:grpSp>
        <p:nvGrpSpPr>
          <p:cNvPr id="20" name="combination"/>
          <p:cNvGrpSpPr/>
          <p:nvPr/>
        </p:nvGrpSpPr>
        <p:grpSpPr>
          <a:xfrm>
            <a:off x="596646" y="4829175"/>
            <a:ext cx="10909554" cy="1219454"/>
            <a:chOff x="596646" y="4829175"/>
            <a:chExt cx="10909554" cy="1219454"/>
          </a:xfrm>
        </p:grpSpPr>
        <p:sp>
          <p:nvSpPr>
            <p:cNvPr id="17" name="Line 17"/>
            <p:cNvSpPr/>
            <p:nvPr/>
          </p:nvSpPr>
          <p:spPr>
            <a:xfrm>
              <a:off x="609600" y="4829175"/>
              <a:ext cx="10896600" cy="9525"/>
            </a:xfrm>
            <a:custGeom>
              <a:avLst/>
              <a:gdLst/>
              <a:ahLst/>
              <a:cxnLst/>
              <a:rect l="l" t="t" r="r" b="b"/>
              <a:pathLst>
                <a:path w="10896600" h="9525">
                  <a:moveTo>
                    <a:pt x="0" y="0"/>
                  </a:moveTo>
                  <a:lnTo>
                    <a:pt x="10896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1218" y="5102225"/>
              <a:ext cx="43538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本项目 MAF 版：外层仍由 Python 顺序编排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96646" y="5549900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不同层的能力可以组合</a:t>
              </a:r>
            </a:p>
          </p:txBody>
        </p:sp>
      </p:grpSp>
      <p:sp>
        <p:nvSpPr>
          <p:cNvPr id="21" name="page"/>
          <p:cNvSpPr/>
          <p:nvPr/>
        </p:nvSpPr>
        <p:spPr>
          <a:xfrm>
            <a:off x="11322368" y="6305550"/>
            <a:ext cx="1899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56696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2074" y="581025"/>
            <a:ext cx="10972800" cy="1033907"/>
            <a:chOff x="592074" y="581025"/>
            <a:chExt cx="10972800" cy="1033907"/>
          </a:xfrm>
        </p:grpSpPr>
        <p:sp>
          <p:nvSpPr>
            <p:cNvPr id="2" name="TextBox 2"/>
            <p:cNvSpPr/>
            <p:nvPr/>
          </p:nvSpPr>
          <p:spPr>
            <a:xfrm>
              <a:off x="592074" y="581025"/>
              <a:ext cx="1097280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450" b="1" dirty="0">
                  <a:solidFill>
                    <a:srgbClr val="182B25"/>
                  </a:solidFill>
                  <a:latin typeface="Arial"/>
                  <a:ea typeface="Microsoft YaHei"/>
                  <a:cs typeface="Arial"/>
                </a:rPr>
                <a:t>Agent 与团队工作流的集成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218" y="1292225"/>
              <a:ext cx="34323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现有链路：SonarQube、PR、飞书</a:t>
              </a:r>
            </a:p>
          </p:txBody>
        </p:sp>
      </p:grpSp>
      <p:grpSp>
        <p:nvGrpSpPr>
          <p:cNvPr id="18" name="handoff"/>
          <p:cNvGrpSpPr/>
          <p:nvPr/>
        </p:nvGrpSpPr>
        <p:grpSpPr>
          <a:xfrm>
            <a:off x="609600" y="2543175"/>
            <a:ext cx="10896600" cy="1719707"/>
            <a:chOff x="609600" y="2543175"/>
            <a:chExt cx="10896600" cy="1719707"/>
          </a:xfrm>
        </p:grpSpPr>
        <p:sp>
          <p:nvSpPr>
            <p:cNvPr id="5" name="Line 5"/>
            <p:cNvSpPr/>
            <p:nvPr/>
          </p:nvSpPr>
          <p:spPr>
            <a:xfrm>
              <a:off x="2152650" y="3048000"/>
              <a:ext cx="7229475" cy="1"/>
            </a:xfrm>
            <a:prstGeom prst="line">
              <a:avLst/>
            </a:prstGeom>
            <a:noFill/>
            <a:ln w="19050">
              <a:solidFill>
                <a:srgbClr val="566960"/>
              </a:solidFill>
              <a:tailEnd type="triangle" w="lg" len="lg"/>
            </a:ln>
          </p:spPr>
        </p:sp>
        <p:grpSp>
          <p:nvGrpSpPr>
            <p:cNvPr id="8" name="Group 8"/>
            <p:cNvGrpSpPr/>
            <p:nvPr/>
          </p:nvGrpSpPr>
          <p:grpSpPr>
            <a:xfrm>
              <a:off x="609600" y="2543175"/>
              <a:ext cx="10896600" cy="1009650"/>
              <a:chOff x="609600" y="2543175"/>
              <a:chExt cx="10896600" cy="10096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609600" y="2543175"/>
                <a:ext cx="2381250" cy="1009650"/>
              </a:xfrm>
              <a:prstGeom prst="roundRect">
                <a:avLst>
                  <a:gd name="adj" fmla="val 7547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8763000" y="2543175"/>
                <a:ext cx="2743200" cy="1009650"/>
              </a:xfrm>
              <a:prstGeom prst="roundRect">
                <a:avLst>
                  <a:gd name="adj" fmla="val 7547"/>
                </a:avLst>
              </a:prstGeom>
              <a:solidFill>
                <a:schemeClr val="lt2"/>
              </a:solidFill>
              <a:ln>
                <a:noFill/>
              </a:ln>
            </p:spPr>
          </p:sp>
        </p:grpSp>
        <p:sp>
          <p:nvSpPr>
            <p:cNvPr id="9" name="Rectangle 9"/>
            <p:cNvSpPr/>
            <p:nvPr/>
          </p:nvSpPr>
          <p:spPr>
            <a:xfrm>
              <a:off x="4267200" y="2543175"/>
              <a:ext cx="3114675" cy="1009650"/>
            </a:xfrm>
            <a:prstGeom prst="roundRect">
              <a:avLst>
                <a:gd name="adj" fmla="val 7547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880110" y="2892425"/>
              <a:ext cx="10174605" cy="440055"/>
              <a:chOff x="880110" y="2892425"/>
              <a:chExt cx="10174605" cy="440055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880110" y="2892425"/>
                <a:ext cx="1840230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2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已有任务入口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5038306" y="2892425"/>
                <a:ext cx="1562938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2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Agent 执行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214485" y="2892425"/>
                <a:ext cx="1840230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2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已有审查入口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1125474" y="3940175"/>
              <a:ext cx="9683877" cy="322707"/>
              <a:chOff x="1125474" y="3940175"/>
              <a:chExt cx="9683877" cy="322707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1125474" y="3940175"/>
                <a:ext cx="134950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减少重复录入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5033962" y="3940175"/>
                <a:ext cx="157162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结果与证据链接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459849" y="3940175"/>
                <a:ext cx="134950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便于团队接手</a:t>
                </a:r>
              </a:p>
            </p:txBody>
          </p:sp>
        </p:grpSp>
      </p:grpSp>
      <p:grpSp>
        <p:nvGrpSpPr>
          <p:cNvPr id="21" name="responsibility"/>
          <p:cNvGrpSpPr/>
          <p:nvPr/>
        </p:nvGrpSpPr>
        <p:grpSpPr>
          <a:xfrm>
            <a:off x="596646" y="5159375"/>
            <a:ext cx="5175123" cy="913257"/>
            <a:chOff x="596646" y="5159375"/>
            <a:chExt cx="5175123" cy="913257"/>
          </a:xfrm>
        </p:grpSpPr>
        <p:sp>
          <p:nvSpPr>
            <p:cNvPr id="19" name="TextBox 19"/>
            <p:cNvSpPr txBox="1"/>
            <p:nvPr/>
          </p:nvSpPr>
          <p:spPr>
            <a:xfrm>
              <a:off x="596646" y="5159375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任务出现阻塞时，谁负责下一步？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1218" y="5749925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岗位设计还要明确负责人、升级路径和通知内容</a:t>
              </a:r>
            </a:p>
          </p:txBody>
        </p:sp>
      </p:grpSp>
      <p:sp>
        <p:nvSpPr>
          <p:cNvPr id="22" name="page"/>
          <p:cNvSpPr/>
          <p:nvPr/>
        </p:nvSpPr>
        <p:spPr>
          <a:xfrm>
            <a:off x="11322368" y="6305550"/>
            <a:ext cx="1899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56696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gent_engineering">
  <a:themeElements>
    <a:clrScheme name="agent_engineering">
      <a:dk1>
        <a:srgbClr val="182B25"/>
      </a:dk1>
      <a:lt1>
        <a:srgbClr val="F6F7F4"/>
      </a:lt1>
      <a:dk2>
        <a:srgbClr val="1F497D"/>
      </a:dk2>
      <a:lt2>
        <a:srgbClr val="E8EEEA"/>
      </a:lt2>
      <a:accent1>
        <a:srgbClr val="122923"/>
      </a:accent1>
      <a:accent2>
        <a:srgbClr val="087F70"/>
      </a:accent2>
      <a:accent3>
        <a:srgbClr val="A76517"/>
      </a:accent3>
      <a:accent4>
        <a:srgbClr val="122923"/>
      </a:accent4>
      <a:accent5>
        <a:srgbClr val="566960"/>
      </a:accent5>
      <a:accent6>
        <a:srgbClr val="CAD5CE"/>
      </a:accent6>
      <a:hlink>
        <a:srgbClr val="087F70"/>
      </a:hlink>
      <a:folHlink>
        <a:srgbClr val="A76517"/>
      </a:folHlink>
    </a:clrScheme>
    <a:fontScheme name="agent_engineering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gent_engineeri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gent_engineering">
  <a:themeElements>
    <a:clrScheme name="agent_engineering">
      <a:dk1>
        <a:srgbClr val="182B25"/>
      </a:dk1>
      <a:lt1>
        <a:srgbClr val="F6F7F4"/>
      </a:lt1>
      <a:dk2>
        <a:srgbClr val="1F497D"/>
      </a:dk2>
      <a:lt2>
        <a:srgbClr val="E8EEEA"/>
      </a:lt2>
      <a:accent1>
        <a:srgbClr val="122923"/>
      </a:accent1>
      <a:accent2>
        <a:srgbClr val="087F70"/>
      </a:accent2>
      <a:accent3>
        <a:srgbClr val="A76517"/>
      </a:accent3>
      <a:accent4>
        <a:srgbClr val="122923"/>
      </a:accent4>
      <a:accent5>
        <a:srgbClr val="566960"/>
      </a:accent5>
      <a:accent6>
        <a:srgbClr val="CAD5CE"/>
      </a:accent6>
      <a:hlink>
        <a:srgbClr val="087F70"/>
      </a:hlink>
      <a:folHlink>
        <a:srgbClr val="A76517"/>
      </a:folHlink>
    </a:clrScheme>
    <a:fontScheme name="agent_engineering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gent_engineeri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1</ns0:TotalTime>
  <ns0:Words>0</ns0:Words>
  <ns0:Application>Microsoft Office PowerPoint</ns0:Application>
  <ns0:PresentationFormat>On-screen Show (16:9)</ns0:PresentationFormat>
  <ns0:Paragraphs>0</ns0:Paragraphs>
  <ns0:Slides>10</ns0:Slides>
  <ns0:Notes>0</ns0:Notes>
  <ns0:HiddenSlides>0</ns0:HiddenSlides>
  <ns0:MMClips>0</ns0:MMClips>
  <ns0:ScaleCrop>false</ns0:ScaleCrop>
  <ns0:HeadingPairs>
    <ns1:vector size="4" baseType="variant">
      <ns1:variant>
        <ns1:lpstr>Theme</ns1:lpstr>
      </ns1:variant>
      <ns1:variant>
        <ns1:i4>1</ns1:i4>
      </ns1:variant>
      <ns1:variant>
        <ns1:lpstr>Slide Titles</ns1:lpstr>
      </ns1:variant>
      <ns1:variant>
        <ns1:i4>0</ns1:i4>
      </ns1:variant>
    </ns1:vector>
  </ns0:HeadingPairs>
  <ns0:TitlesOfParts>
    <ns1:vector size="1" baseType="lpstr">
      <ns1:lpstr>Office Theme</ns1:lpstr>
    </ns1:vector>
  </ns0:TitlesOfParts>
  <ns0:Manager/>
  <ns0:Company/>
  <ns0:LinksUpToDate>false</ns0:LinksUpToDate>
  <ns0:SharedDoc>false</ns0:SharedDoc>
  <ns0:HyperlinkBase/>
  <ns0:HyperlinksChanged>false</ns0:HyperlinksChanged>
  <ns0:AppVersion>14.0000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2026-10-12T06:57:28Z</dcterms:created>
  <dcterms:modified xsi:type="dcterms:W3CDTF">2026-10-12T06:57:28Z</dcterms:modified>
  <cp:category/>
  <cp:contentStatus/>
</cp:coreProperties>
</file>